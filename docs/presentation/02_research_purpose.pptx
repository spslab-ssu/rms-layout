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남은 최적성 gap</c:v>
                </c:pt>
              </c:strCache>
            </c:strRef>
          </c:tx>
          <c:spPr>
            <a:ln w="28575">
              <a:solidFill>
                <a:srgbClr val="C44536"/>
              </a:solidFill>
            </a:ln>
          </c:spPr>
          <c:marker>
            <c:symbol val="circle"/>
            <c:size val="6"/>
            <c:spPr>
              <a:solidFill>
                <a:srgbClr val="C44536"/>
              </a:solidFill>
              <a:ln>
                <a:solidFill>
                  <a:srgbClr val="C44536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1" i="0" lang="ko-KR" altLang="en-US">
                        <a:solidFill>
                          <a:srgbClr val="C44536"/>
                        </a:solidFill>
                        <a:latin typeface="맑은 고딕"/>
                        <a:ea typeface="맑은 고딕"/>
                        <a:cs typeface="맑은 고딕"/>
                      </a:rPr>
                      <a:t>1.30%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 i="0" lang="ko-KR" altLang="en-US">
                        <a:solidFill>
                          <a:srgbClr val="C44536"/>
                        </a:solidFill>
                        <a:latin typeface="맑은 고딕"/>
                        <a:ea typeface="맑은 고딕"/>
                        <a:cs typeface="맑은 고딕"/>
                      </a:rPr>
                      <a:t>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8</c:v>
                </c:pt>
                <c:pt idx="2">
                  <c:v>22</c:v>
                </c:pt>
                <c:pt idx="3">
                  <c:v>35</c:v>
                </c:pt>
                <c:pt idx="4">
                  <c:v>45</c:v>
                </c:pt>
                <c:pt idx="5">
                  <c:v>48.1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1.3</c:v>
                </c:pt>
                <c:pt idx="1">
                  <c:v>0.67</c:v>
                </c:pt>
                <c:pt idx="2">
                  <c:v>0.39</c:v>
                </c:pt>
                <c:pt idx="3">
                  <c:v>0.23</c:v>
                </c:pt>
                <c:pt idx="4">
                  <c:v>0.13</c:v>
                </c:pt>
                <c:pt idx="5">
                  <c:v>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50.0"/>
          <c:min val="0.0"/>
        </c:scaling>
        <c:delete val="0"/>
        <c:axPos val="b"/>
        <c:numFmt formatCode="0&quot;h&quot;" sourceLinked="0"/>
        <c:majorTickMark val="out"/>
        <c:minorTickMark val="none"/>
        <c:tickLblPos val="nextTo"/>
        <c:spPr>
          <a:ln>
            <a:solidFill>
              <a:srgbClr val="C9CFDD"/>
            </a:solidFill>
          </a:ln>
        </c:spPr>
        <c:txPr>
          <a:bodyPr/>
          <a:lstStyle/>
          <a:p>
            <a:pPr>
              <a:defRPr sz="900">
                <a:solidFill>
                  <a:srgbClr val="6B7385"/>
                </a:solidFill>
              </a:defRPr>
            </a:pPr>
          </a:p>
        </c:txPr>
        <c:crossAx val="-2129643912"/>
        <c:crosses val="autoZero"/>
        <c:crossBetween val="midCat"/>
        <c:majorUnit val="10.0"/>
      </c:valAx>
      <c:valAx>
        <c:axId val="-2129643912"/>
        <c:scaling>
          <c:orientation val="minMax"/>
          <c:max val="1.5"/>
          <c:min val="0.0"/>
        </c:scaling>
        <c:delete val="0"/>
        <c:axPos val="l"/>
        <c:majorGridlines>
          <c:spPr>
            <a:ln>
              <a:solidFill>
                <a:srgbClr val="E3E6EE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solidFill>
              <a:srgbClr val="C9CFDD"/>
            </a:solidFill>
          </a:ln>
        </c:spPr>
        <c:txPr>
          <a:bodyPr/>
          <a:lstStyle/>
          <a:p>
            <a:pPr>
              <a:defRPr sz="900">
                <a:solidFill>
                  <a:srgbClr val="6B7385"/>
                </a:solidFill>
              </a:defRPr>
            </a:pPr>
          </a:p>
        </c:txPr>
        <c:crossAx val="-2128940872"/>
        <c:crosses val="autoZero"/>
        <c:crossBetween val="midCat"/>
        <c:majorUnit val="0.5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6B7385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[출처·근거]</a:t>
            </a:r>
          </a:p>
          <a:p>
            <a:r>
              <a:t>논문: Saffar, Moghaddam &amp; Huang (2025), Dynamic layout design for scalable reconfigurable manufacturing systems, IJPR 63(17), 6530–6552.</a:t>
            </a:r>
          </a:p>
          <a:p>
            <a:r>
              <a:t>한계 1: 논문 식 (2) s_pjlt ≤ Σ_j′Σ_l′ x_pj′l′. 구매 변수 x에 기간 인덱스가 없어 1기에 설치한 위치에 전 기간 결박. 식 (5)의 상태 전이도 같은 위치 p 안의 유지·재구성만 허용. 미니 레이아웃은 논문 예제 2(multi_part)의 증명된 최적해 35,775: 18대, 빈 자리 5·18, 재구성 6회(위치 4·6·7·15·19·20).</a:t>
            </a:r>
          </a:p>
          <a:p>
            <a:r>
              <a:t>한계 2: 같은 정식화로 Gurobi, 시간 제한 없음, MIPGap 0 → 48.10시간(173,154초) 만에 최적 증명, 노드 4,667,187개, 최적해 발견 31.0시간. LP 완화 하한 32,776.4(root gap 8.4%). gap 궤적 1h 1.30% / 8h 0.67% / 22h 0.39% / 35h 0.23% / 45h 0.13% / 48.1h 0%. 10분(600초) 실행 gap 2.09%. 논문 보고값 36,006.</a:t>
            </a:r>
          </a:p>
          <a:p>
            <a:r>
              <a:t>한계 3: 3×4 레이아웃, 수요 0.5배, 재구성비 50/25, 이동비 0(이득 상한). 공정 공유형(원본 순서 A 2&gt;12&gt;17, B 2&gt;12&gt;11, C 2&gt;12&gt;11&gt;8) 이득 구간 [173, 264] / off 17,829 → 0.97~1.48%. 공정 비공유형(A 18&gt;9&gt;19, B 10&gt;1&gt;17, C 13&gt;16&gt;8&gt;12) 이득 구간 [530, 717] / off 17,730 → 2.99~4.04%. 두 경우 모두 off 최적 증명.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-tab"/>
          <p:cNvSpPr/>
          <p:nvPr/>
        </p:nvSpPr>
        <p:spPr>
          <a:xfrm>
            <a:off x="0" y="253138"/>
            <a:ext cx="663633" cy="38312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num"/>
          <p:cNvSpPr txBox="1"/>
          <p:nvPr/>
        </p:nvSpPr>
        <p:spPr>
          <a:xfrm>
            <a:off x="0" y="253138"/>
            <a:ext cx="663633" cy="3831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2400" b="1" i="0" lang="ko-KR" altLang="en-US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31520" y="146304"/>
            <a:ext cx="45720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3400" b="1" i="0" lang="ko-KR" altLang="en-US">
                <a:solidFill>
                  <a:srgbClr val="3B3B3B"/>
                </a:solidFill>
                <a:latin typeface="맑은 고딕"/>
                <a:ea typeface="맑은 고딕"/>
                <a:cs typeface="맑은 고딕"/>
              </a:rPr>
              <a:t>연구 목적</a:t>
            </a:r>
          </a:p>
        </p:txBody>
      </p:sp>
      <p:sp>
        <p:nvSpPr>
          <p:cNvPr id="5" name="sec1-tab"/>
          <p:cNvSpPr/>
          <p:nvPr/>
        </p:nvSpPr>
        <p:spPr>
          <a:xfrm>
            <a:off x="588375" y="862039"/>
            <a:ext cx="3564463" cy="335237"/>
          </a:xfrm>
          <a:prstGeom prst="rect">
            <a:avLst/>
          </a:prstGeom>
          <a:solidFill>
            <a:srgbClr val="707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ec1-tab-diag"/>
          <p:cNvSpPr/>
          <p:nvPr/>
        </p:nvSpPr>
        <p:spPr>
          <a:xfrm>
            <a:off x="3331849" y="862039"/>
            <a:ext cx="820989" cy="335237"/>
          </a:xfrm>
          <a:custGeom>
            <a:avLst/>
            <a:gdLst/>
            <a:ahLst/>
            <a:cxnLst/>
            <a:rect l="l" t="t" r="r" b="b"/>
            <a:pathLst>
              <a:path w="820989" h="335237">
                <a:moveTo>
                  <a:pt x="410495" y="0"/>
                </a:moveTo>
                <a:lnTo>
                  <a:pt x="820989" y="0"/>
                </a:lnTo>
                <a:lnTo>
                  <a:pt x="820989" y="335237"/>
                </a:lnTo>
                <a:lnTo>
                  <a:pt x="0" y="335237"/>
                </a:lnTo>
                <a:close/>
              </a:path>
            </a:pathLst>
          </a:custGeom>
          <a:solidFill>
            <a:srgbClr val="667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1-tab-label"/>
          <p:cNvSpPr txBox="1"/>
          <p:nvPr/>
        </p:nvSpPr>
        <p:spPr>
          <a:xfrm>
            <a:off x="694944" y="862039"/>
            <a:ext cx="3291840" cy="33523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Saffar 논문 설명</a:t>
            </a:r>
          </a:p>
        </p:txBody>
      </p:sp>
      <p:sp>
        <p:nvSpPr>
          <p:cNvPr id="8" name="sec1-box"/>
          <p:cNvSpPr/>
          <p:nvPr/>
        </p:nvSpPr>
        <p:spPr>
          <a:xfrm>
            <a:off x="588375" y="1197276"/>
            <a:ext cx="11179141" cy="1313583"/>
          </a:xfrm>
          <a:prstGeom prst="rect">
            <a:avLst/>
          </a:prstGeom>
          <a:solidFill>
            <a:srgbClr val="D5D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c2-tab"/>
          <p:cNvSpPr/>
          <p:nvPr/>
        </p:nvSpPr>
        <p:spPr>
          <a:xfrm>
            <a:off x="588375" y="2736631"/>
            <a:ext cx="2538226" cy="335237"/>
          </a:xfrm>
          <a:prstGeom prst="rect">
            <a:avLst/>
          </a:prstGeom>
          <a:solidFill>
            <a:srgbClr val="707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ec2-tab-diag"/>
          <p:cNvSpPr/>
          <p:nvPr/>
        </p:nvSpPr>
        <p:spPr>
          <a:xfrm>
            <a:off x="2305612" y="2736631"/>
            <a:ext cx="820989" cy="335238"/>
          </a:xfrm>
          <a:custGeom>
            <a:avLst/>
            <a:gdLst/>
            <a:ahLst/>
            <a:cxnLst/>
            <a:rect l="l" t="t" r="r" b="b"/>
            <a:pathLst>
              <a:path w="820989" h="335238">
                <a:moveTo>
                  <a:pt x="410495" y="0"/>
                </a:moveTo>
                <a:lnTo>
                  <a:pt x="820989" y="0"/>
                </a:lnTo>
                <a:lnTo>
                  <a:pt x="820989" y="335238"/>
                </a:lnTo>
                <a:lnTo>
                  <a:pt x="0" y="335238"/>
                </a:lnTo>
                <a:close/>
              </a:path>
            </a:pathLst>
          </a:custGeom>
          <a:solidFill>
            <a:srgbClr val="667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c2-tab-label"/>
          <p:cNvSpPr txBox="1"/>
          <p:nvPr/>
        </p:nvSpPr>
        <p:spPr>
          <a:xfrm>
            <a:off x="694944" y="2736631"/>
            <a:ext cx="3291840" cy="33523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한계점</a:t>
            </a:r>
          </a:p>
        </p:txBody>
      </p:sp>
      <p:sp>
        <p:nvSpPr>
          <p:cNvPr id="12" name="sec2-box"/>
          <p:cNvSpPr/>
          <p:nvPr/>
        </p:nvSpPr>
        <p:spPr>
          <a:xfrm>
            <a:off x="588375" y="3071869"/>
            <a:ext cx="11179141" cy="3680769"/>
          </a:xfrm>
          <a:prstGeom prst="rect">
            <a:avLst/>
          </a:prstGeom>
          <a:solidFill>
            <a:srgbClr val="F6F8F9"/>
          </a:solidFill>
          <a:ln w="38100">
            <a:solidFill>
              <a:srgbClr val="AAB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c1-text"/>
          <p:cNvSpPr txBox="1"/>
          <p:nvPr/>
        </p:nvSpPr>
        <p:spPr>
          <a:xfrm>
            <a:off x="789543" y="1288716"/>
            <a:ext cx="7086600" cy="11307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  <a:spcAft>
                <a:spcPts val="400"/>
              </a:spcAft>
            </a:pPr>
            <a:r>
              <a:rPr sz="140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Saffar, Moghaddam &amp; Huang (2025), IJPR</a:t>
            </a:r>
            <a:r>
              <a:rPr sz="1200" b="0" i="1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  —  Dynamic layout design for scalable RMS</a:t>
            </a:r>
          </a:p>
          <a:p>
            <a:pPr algn="l" eaLnBrk="0" latinLnBrk="0" marL="155448" indent="-155448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140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재구성 가능 기계(RMT)의 </a:t>
            </a:r>
            <a:r>
              <a:rPr sz="140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구매·배치·재구성·공정 배정</a:t>
            </a:r>
            <a:r>
              <a:rPr sz="140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을 하나의 MILP로 동시 결정</a:t>
            </a:r>
          </a:p>
          <a:p>
            <a:pPr algn="l" eaLnBrk="0" latinLnBrk="0" marL="155448" indent="-155448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140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목적함수: 기계 구매비 + 재구성비 + 자재취급비(흐름량 × 거리) 최소화</a:t>
            </a:r>
          </a:p>
          <a:p>
            <a:pPr algn="l" eaLnBrk="0" latinLnBrk="0" marL="155448" indent="-155448">
              <a:lnSpc>
                <a:spcPct val="100000"/>
              </a:lnSpc>
              <a:buFont typeface="Arial"/>
              <a:buChar char="•"/>
            </a:pPr>
            <a:r>
              <a:rPr sz="140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수요 변화에는 1기 배치를 유지한 채 </a:t>
            </a:r>
            <a:r>
              <a:rPr sz="140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모듈 재구성으로만 대응</a:t>
            </a:r>
            <a:r>
              <a:rPr sz="1400" b="0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  (Robust layout)</a:t>
            </a:r>
          </a:p>
        </p:txBody>
      </p:sp>
      <p:sp>
        <p:nvSpPr>
          <p:cNvPr id="14" name="flow-0"/>
          <p:cNvSpPr/>
          <p:nvPr/>
        </p:nvSpPr>
        <p:spPr>
          <a:xfrm>
            <a:off x="8065008" y="1352724"/>
            <a:ext cx="1069848" cy="100268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ow-0-text"/>
          <p:cNvSpPr txBox="1"/>
          <p:nvPr/>
        </p:nvSpPr>
        <p:spPr>
          <a:xfrm>
            <a:off x="8101583" y="1389300"/>
            <a:ext cx="996695" cy="92953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  <a:spcAft>
                <a:spcPts val="200"/>
              </a:spcAft>
            </a:pPr>
            <a:r>
              <a:rPr sz="125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ctr" eaLnBrk="0" latinLnBrk="0">
              <a:lnSpc>
                <a:spcPct val="100000"/>
              </a:lnSpc>
            </a:pPr>
            <a:r>
              <a:rPr sz="105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기간별 수요</a:t>
            </a:r>
          </a:p>
          <a:p>
            <a:pPr algn="ctr" eaLnBrk="0" latinLnBrk="0">
              <a:lnSpc>
                <a:spcPct val="100000"/>
              </a:lnSpc>
            </a:pPr>
            <a:r>
              <a:rPr sz="105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공정 순서</a:t>
            </a:r>
          </a:p>
          <a:p>
            <a:pPr algn="ctr" eaLnBrk="0" latinLnBrk="0">
              <a:lnSpc>
                <a:spcPct val="100000"/>
              </a:lnSpc>
            </a:pPr>
            <a:r>
              <a:rPr sz="105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RMT 구성·능력</a:t>
            </a:r>
          </a:p>
        </p:txBody>
      </p:sp>
      <p:sp>
        <p:nvSpPr>
          <p:cNvPr id="16" name="flow-arrow-0"/>
          <p:cNvSpPr/>
          <p:nvPr/>
        </p:nvSpPr>
        <p:spPr>
          <a:xfrm>
            <a:off x="9180576" y="1771772"/>
            <a:ext cx="155448" cy="164592"/>
          </a:xfrm>
          <a:prstGeom prst="rightArrow">
            <a:avLst/>
          </a:prstGeom>
          <a:solidFill>
            <a:srgbClr val="707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low-1"/>
          <p:cNvSpPr/>
          <p:nvPr/>
        </p:nvSpPr>
        <p:spPr>
          <a:xfrm>
            <a:off x="9381744" y="1352724"/>
            <a:ext cx="1069848" cy="1002687"/>
          </a:xfrm>
          <a:prstGeom prst="roundRect">
            <a:avLst>
              <a:gd name="adj" fmla="val 12000"/>
            </a:avLst>
          </a:prstGeom>
          <a:solidFill>
            <a:srgbClr val="707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low-1-text"/>
          <p:cNvSpPr txBox="1"/>
          <p:nvPr/>
        </p:nvSpPr>
        <p:spPr>
          <a:xfrm>
            <a:off x="9418319" y="1389300"/>
            <a:ext cx="996695" cy="92953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  <a:spcAft>
                <a:spcPts val="200"/>
              </a:spcAft>
            </a:pPr>
            <a:r>
              <a:rPr sz="12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MILP</a:t>
            </a:r>
          </a:p>
          <a:p>
            <a:pPr algn="ctr" eaLnBrk="0" latinLnBrk="0">
              <a:lnSpc>
                <a:spcPct val="100000"/>
              </a:lnSpc>
            </a:pPr>
            <a:r>
              <a:rPr sz="105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논문 식 (1)–(16)</a:t>
            </a:r>
          </a:p>
          <a:p>
            <a:pPr algn="ctr" eaLnBrk="0" latinLnBrk="0">
              <a:lnSpc>
                <a:spcPct val="100000"/>
              </a:lnSpc>
            </a:pPr>
            <a:r>
              <a:rPr sz="105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총비용 최소화</a:t>
            </a:r>
          </a:p>
        </p:txBody>
      </p:sp>
      <p:sp>
        <p:nvSpPr>
          <p:cNvPr id="19" name="flow-arrow-1"/>
          <p:cNvSpPr/>
          <p:nvPr/>
        </p:nvSpPr>
        <p:spPr>
          <a:xfrm>
            <a:off x="10497312" y="1771772"/>
            <a:ext cx="155448" cy="164592"/>
          </a:xfrm>
          <a:prstGeom prst="rightArrow">
            <a:avLst/>
          </a:prstGeom>
          <a:solidFill>
            <a:srgbClr val="707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low-2"/>
          <p:cNvSpPr/>
          <p:nvPr/>
        </p:nvSpPr>
        <p:spPr>
          <a:xfrm>
            <a:off x="10698480" y="1352724"/>
            <a:ext cx="1069848" cy="100268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low-2-text"/>
          <p:cNvSpPr txBox="1"/>
          <p:nvPr/>
        </p:nvSpPr>
        <p:spPr>
          <a:xfrm>
            <a:off x="10735055" y="1389300"/>
            <a:ext cx="996695" cy="92953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  <a:spcAft>
                <a:spcPts val="200"/>
              </a:spcAft>
            </a:pPr>
            <a:r>
              <a:rPr sz="125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  <a:p>
            <a:pPr algn="ctr" eaLnBrk="0" latinLnBrk="0">
              <a:lnSpc>
                <a:spcPct val="100000"/>
              </a:lnSpc>
            </a:pPr>
            <a:r>
              <a:rPr sz="105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구매·설치 위치</a:t>
            </a:r>
          </a:p>
          <a:p>
            <a:pPr algn="ctr" eaLnBrk="0" latinLnBrk="0">
              <a:lnSpc>
                <a:spcPct val="100000"/>
              </a:lnSpc>
            </a:pPr>
            <a:r>
              <a:rPr sz="105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공정 배정</a:t>
            </a:r>
          </a:p>
          <a:p>
            <a:pPr algn="ctr" eaLnBrk="0" latinLnBrk="0">
              <a:lnSpc>
                <a:spcPct val="100000"/>
              </a:lnSpc>
            </a:pPr>
            <a:r>
              <a:rPr sz="105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기간별 재구성</a:t>
            </a:r>
          </a:p>
        </p:txBody>
      </p:sp>
      <p:sp>
        <p:nvSpPr>
          <p:cNvPr id="22" name="card-1"/>
          <p:cNvSpPr/>
          <p:nvPr/>
        </p:nvSpPr>
        <p:spPr>
          <a:xfrm>
            <a:off x="752967" y="3227317"/>
            <a:ext cx="3494732" cy="2912673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-1-badge"/>
          <p:cNvSpPr/>
          <p:nvPr/>
        </p:nvSpPr>
        <p:spPr>
          <a:xfrm>
            <a:off x="890127" y="3346189"/>
            <a:ext cx="310896" cy="310896"/>
          </a:xfrm>
          <a:prstGeom prst="ellipse">
            <a:avLst/>
          </a:prstGeom>
          <a:solidFill>
            <a:srgbClr val="707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-1-num"/>
          <p:cNvSpPr txBox="1"/>
          <p:nvPr/>
        </p:nvSpPr>
        <p:spPr>
          <a:xfrm>
            <a:off x="890127" y="334618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 i="0" lang="ko-KR" altLang="en-US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card-1-title"/>
          <p:cNvSpPr txBox="1"/>
          <p:nvPr/>
        </p:nvSpPr>
        <p:spPr>
          <a:xfrm>
            <a:off x="1283319" y="3318757"/>
            <a:ext cx="28729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레이아웃 위치가 전 기간 고정</a:t>
            </a:r>
          </a:p>
        </p:txBody>
      </p:sp>
      <p:sp>
        <p:nvSpPr>
          <p:cNvPr id="26" name="card-2"/>
          <p:cNvSpPr/>
          <p:nvPr/>
        </p:nvSpPr>
        <p:spPr>
          <a:xfrm>
            <a:off x="4430580" y="3227317"/>
            <a:ext cx="3494732" cy="2912673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-2-badge"/>
          <p:cNvSpPr/>
          <p:nvPr/>
        </p:nvSpPr>
        <p:spPr>
          <a:xfrm>
            <a:off x="4567740" y="3346189"/>
            <a:ext cx="310896" cy="310896"/>
          </a:xfrm>
          <a:prstGeom prst="ellipse">
            <a:avLst/>
          </a:prstGeom>
          <a:solidFill>
            <a:srgbClr val="707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-2-num"/>
          <p:cNvSpPr txBox="1"/>
          <p:nvPr/>
        </p:nvSpPr>
        <p:spPr>
          <a:xfrm>
            <a:off x="4567740" y="334618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 i="0" lang="ko-KR" altLang="en-US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card-2-title"/>
          <p:cNvSpPr txBox="1"/>
          <p:nvPr/>
        </p:nvSpPr>
        <p:spPr>
          <a:xfrm>
            <a:off x="4960932" y="3318757"/>
            <a:ext cx="28729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최적해 계산 부담이 큼</a:t>
            </a:r>
          </a:p>
        </p:txBody>
      </p:sp>
      <p:sp>
        <p:nvSpPr>
          <p:cNvPr id="30" name="card-3"/>
          <p:cNvSpPr/>
          <p:nvPr/>
        </p:nvSpPr>
        <p:spPr>
          <a:xfrm>
            <a:off x="8108192" y="3227317"/>
            <a:ext cx="3494732" cy="2912673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-3-badge"/>
          <p:cNvSpPr/>
          <p:nvPr/>
        </p:nvSpPr>
        <p:spPr>
          <a:xfrm>
            <a:off x="8245352" y="3346189"/>
            <a:ext cx="310896" cy="310896"/>
          </a:xfrm>
          <a:prstGeom prst="ellipse">
            <a:avLst/>
          </a:prstGeom>
          <a:solidFill>
            <a:srgbClr val="707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rd-3-num"/>
          <p:cNvSpPr txBox="1"/>
          <p:nvPr/>
        </p:nvSpPr>
        <p:spPr>
          <a:xfrm>
            <a:off x="8245352" y="334618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 i="0" lang="ko-KR" altLang="en-US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card-3-title"/>
          <p:cNvSpPr txBox="1"/>
          <p:nvPr/>
        </p:nvSpPr>
        <p:spPr>
          <a:xfrm>
            <a:off x="8638544" y="3318757"/>
            <a:ext cx="28729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제한적 예제로 일반화 어려움</a:t>
            </a:r>
          </a:p>
        </p:txBody>
      </p:sp>
      <p:sp>
        <p:nvSpPr>
          <p:cNvPr id="34" name="c1-formula-bg"/>
          <p:cNvSpPr/>
          <p:nvPr/>
        </p:nvSpPr>
        <p:spPr>
          <a:xfrm>
            <a:off x="890127" y="3739381"/>
            <a:ext cx="3220412" cy="420624"/>
          </a:xfrm>
          <a:prstGeom prst="roundRect">
            <a:avLst>
              <a:gd name="adj" fmla="val 15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1-formula"/>
          <p:cNvSpPr txBox="1"/>
          <p:nvPr/>
        </p:nvSpPr>
        <p:spPr>
          <a:xfrm>
            <a:off x="890127" y="3739381"/>
            <a:ext cx="322041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0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(2)   </a:t>
            </a:r>
            <a:r>
              <a:rPr sz="1700" b="0" i="1" lang="ko-KR" altLang="en-US">
                <a:solidFill>
                  <a:srgbClr val="2E3A59"/>
                </a:solidFill>
                <a:latin typeface="Cambria"/>
                <a:ea typeface="Cambria"/>
                <a:cs typeface="Cambria"/>
              </a:rPr>
              <a:t>s</a:t>
            </a:r>
            <a:r>
              <a:rPr sz="1700" b="0" i="1" lang="ko-KR" altLang="en-US" baseline="-25000">
                <a:solidFill>
                  <a:srgbClr val="2E3A59"/>
                </a:solidFill>
                <a:latin typeface="Cambria"/>
                <a:ea typeface="Cambria"/>
                <a:cs typeface="Cambria"/>
              </a:rPr>
              <a:t>pjlt</a:t>
            </a:r>
            <a:r>
              <a:rPr sz="1700" b="0" i="0" lang="ko-KR" altLang="en-US">
                <a:solidFill>
                  <a:srgbClr val="2E3A59"/>
                </a:solidFill>
                <a:latin typeface="Cambria"/>
                <a:ea typeface="Cambria"/>
                <a:cs typeface="Cambria"/>
              </a:rPr>
              <a:t>  ≤  Σ</a:t>
            </a:r>
            <a:r>
              <a:rPr sz="1700" b="0" i="1" lang="ko-KR" altLang="en-US" baseline="-25000">
                <a:solidFill>
                  <a:srgbClr val="2E3A59"/>
                </a:solidFill>
                <a:latin typeface="Cambria"/>
                <a:ea typeface="Cambria"/>
                <a:cs typeface="Cambria"/>
              </a:rPr>
              <a:t>j′</a:t>
            </a:r>
            <a:r>
              <a:rPr sz="1700" b="0" i="0" lang="ko-KR" altLang="en-US">
                <a:solidFill>
                  <a:srgbClr val="2E3A59"/>
                </a:solidFill>
                <a:latin typeface="Cambria"/>
                <a:ea typeface="Cambria"/>
                <a:cs typeface="Cambria"/>
              </a:rPr>
              <a:t>Σ</a:t>
            </a:r>
            <a:r>
              <a:rPr sz="1700" b="0" i="1" lang="ko-KR" altLang="en-US" baseline="-25000">
                <a:solidFill>
                  <a:srgbClr val="2E3A59"/>
                </a:solidFill>
                <a:latin typeface="Cambria"/>
                <a:ea typeface="Cambria"/>
                <a:cs typeface="Cambria"/>
              </a:rPr>
              <a:t>l′</a:t>
            </a:r>
            <a:r>
              <a:rPr sz="1700" b="0" i="0" lang="ko-KR" altLang="en-US">
                <a:solidFill>
                  <a:srgbClr val="2E3A59"/>
                </a:solidFill>
                <a:latin typeface="Cambria"/>
                <a:ea typeface="Cambria"/>
                <a:cs typeface="Cambria"/>
              </a:rPr>
              <a:t>  </a:t>
            </a:r>
            <a:r>
              <a:rPr sz="1700" b="1" i="1" lang="ko-KR" altLang="en-US">
                <a:solidFill>
                  <a:srgbClr val="C44536"/>
                </a:solidFill>
                <a:latin typeface="Cambria"/>
                <a:ea typeface="Cambria"/>
                <a:cs typeface="Cambria"/>
              </a:rPr>
              <a:t>x</a:t>
            </a:r>
            <a:r>
              <a:rPr sz="1700" b="1" i="1" lang="ko-KR" altLang="en-US" baseline="-25000">
                <a:solidFill>
                  <a:srgbClr val="C44536"/>
                </a:solidFill>
                <a:latin typeface="Cambria"/>
                <a:ea typeface="Cambria"/>
                <a:cs typeface="Cambria"/>
              </a:rPr>
              <a:t>pj′l′</a:t>
            </a:r>
          </a:p>
        </p:txBody>
      </p:sp>
      <p:sp>
        <p:nvSpPr>
          <p:cNvPr id="36" name="c1-callout"/>
          <p:cNvSpPr txBox="1"/>
          <p:nvPr/>
        </p:nvSpPr>
        <p:spPr>
          <a:xfrm>
            <a:off x="890127" y="4178293"/>
            <a:ext cx="322041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100" b="0" i="0" lang="ko-KR" altLang="en-US">
                <a:solidFill>
                  <a:srgbClr val="C44536"/>
                </a:solidFill>
                <a:latin typeface="맑은 고딕"/>
                <a:ea typeface="맑은 고딕"/>
                <a:cs typeface="맑은 고딕"/>
              </a:rPr>
              <a:t>구매·설치 변수 x에 기간 인덱스 t가 없음</a:t>
            </a:r>
          </a:p>
          <a:p>
            <a:pPr algn="ctr" eaLnBrk="0" latinLnBrk="0">
              <a:lnSpc>
                <a:spcPct val="100000"/>
              </a:lnSpc>
            </a:pPr>
            <a:r>
              <a:rPr sz="1100" b="1" i="0" lang="ko-KR" altLang="en-US">
                <a:solidFill>
                  <a:srgbClr val="C44536"/>
                </a:solidFill>
                <a:latin typeface="맑은 고딕"/>
                <a:ea typeface="맑은 고딕"/>
                <a:cs typeface="맑은 고딕"/>
              </a:rPr>
              <a:t>→ 1기에 설치한 위치에 전 기간 고정</a:t>
            </a:r>
          </a:p>
        </p:txBody>
      </p:sp>
      <p:sp>
        <p:nvSpPr>
          <p:cNvPr id="37" name="c1-grid0-label"/>
          <p:cNvSpPr txBox="1"/>
          <p:nvPr/>
        </p:nvSpPr>
        <p:spPr>
          <a:xfrm>
            <a:off x="981567" y="4562341"/>
            <a:ext cx="1161288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05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기간 1</a:t>
            </a:r>
          </a:p>
        </p:txBody>
      </p:sp>
      <p:sp>
        <p:nvSpPr>
          <p:cNvPr id="38" name="c1-g0-p1"/>
          <p:cNvSpPr/>
          <p:nvPr/>
        </p:nvSpPr>
        <p:spPr>
          <a:xfrm>
            <a:off x="1164447" y="5257285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1-g0-p2"/>
          <p:cNvSpPr/>
          <p:nvPr/>
        </p:nvSpPr>
        <p:spPr>
          <a:xfrm>
            <a:off x="1329039" y="5257285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1-g0-p3"/>
          <p:cNvSpPr/>
          <p:nvPr/>
        </p:nvSpPr>
        <p:spPr>
          <a:xfrm>
            <a:off x="1493631" y="5257285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1-g0-p4"/>
          <p:cNvSpPr/>
          <p:nvPr/>
        </p:nvSpPr>
        <p:spPr>
          <a:xfrm>
            <a:off x="1658223" y="5257285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1-g0-p5"/>
          <p:cNvSpPr/>
          <p:nvPr/>
        </p:nvSpPr>
        <p:spPr>
          <a:xfrm>
            <a:off x="1822815" y="5257285"/>
            <a:ext cx="13716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8E97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1-g0-p6"/>
          <p:cNvSpPr/>
          <p:nvPr/>
        </p:nvSpPr>
        <p:spPr>
          <a:xfrm>
            <a:off x="1164447" y="5092693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1-g0-p7"/>
          <p:cNvSpPr/>
          <p:nvPr/>
        </p:nvSpPr>
        <p:spPr>
          <a:xfrm>
            <a:off x="1329039" y="5092693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1-g0-p8"/>
          <p:cNvSpPr/>
          <p:nvPr/>
        </p:nvSpPr>
        <p:spPr>
          <a:xfrm>
            <a:off x="1493631" y="5092693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1-g0-p9"/>
          <p:cNvSpPr/>
          <p:nvPr/>
        </p:nvSpPr>
        <p:spPr>
          <a:xfrm>
            <a:off x="1658223" y="5092693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1-g0-p10"/>
          <p:cNvSpPr/>
          <p:nvPr/>
        </p:nvSpPr>
        <p:spPr>
          <a:xfrm>
            <a:off x="1822815" y="5092693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1-g0-p11"/>
          <p:cNvSpPr/>
          <p:nvPr/>
        </p:nvSpPr>
        <p:spPr>
          <a:xfrm>
            <a:off x="1164447" y="4928101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1-g0-p12"/>
          <p:cNvSpPr/>
          <p:nvPr/>
        </p:nvSpPr>
        <p:spPr>
          <a:xfrm>
            <a:off x="1329039" y="4928101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1-g0-p13"/>
          <p:cNvSpPr/>
          <p:nvPr/>
        </p:nvSpPr>
        <p:spPr>
          <a:xfrm>
            <a:off x="1493631" y="4928101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1-g0-p14"/>
          <p:cNvSpPr/>
          <p:nvPr/>
        </p:nvSpPr>
        <p:spPr>
          <a:xfrm>
            <a:off x="1658223" y="4928101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1-g0-p15"/>
          <p:cNvSpPr/>
          <p:nvPr/>
        </p:nvSpPr>
        <p:spPr>
          <a:xfrm>
            <a:off x="1822815" y="4928101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1-g0-p16"/>
          <p:cNvSpPr/>
          <p:nvPr/>
        </p:nvSpPr>
        <p:spPr>
          <a:xfrm>
            <a:off x="1164447" y="4763509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1-g0-p17"/>
          <p:cNvSpPr/>
          <p:nvPr/>
        </p:nvSpPr>
        <p:spPr>
          <a:xfrm>
            <a:off x="1329039" y="4763509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1-g0-p18"/>
          <p:cNvSpPr/>
          <p:nvPr/>
        </p:nvSpPr>
        <p:spPr>
          <a:xfrm>
            <a:off x="1493631" y="4763509"/>
            <a:ext cx="13716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8E97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1-g0-p19"/>
          <p:cNvSpPr/>
          <p:nvPr/>
        </p:nvSpPr>
        <p:spPr>
          <a:xfrm>
            <a:off x="1658223" y="4763509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1-g0-p20"/>
          <p:cNvSpPr/>
          <p:nvPr/>
        </p:nvSpPr>
        <p:spPr>
          <a:xfrm>
            <a:off x="1822815" y="4763509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1-grid1-label"/>
          <p:cNvSpPr txBox="1"/>
          <p:nvPr/>
        </p:nvSpPr>
        <p:spPr>
          <a:xfrm>
            <a:off x="2857812" y="4562341"/>
            <a:ext cx="1161288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05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기간 4</a:t>
            </a:r>
          </a:p>
        </p:txBody>
      </p:sp>
      <p:sp>
        <p:nvSpPr>
          <p:cNvPr id="59" name="c1-g1-p1"/>
          <p:cNvSpPr/>
          <p:nvPr/>
        </p:nvSpPr>
        <p:spPr>
          <a:xfrm>
            <a:off x="3040692" y="5257285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1-g1-p2"/>
          <p:cNvSpPr/>
          <p:nvPr/>
        </p:nvSpPr>
        <p:spPr>
          <a:xfrm>
            <a:off x="3205284" y="5257285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1-g1-p3"/>
          <p:cNvSpPr/>
          <p:nvPr/>
        </p:nvSpPr>
        <p:spPr>
          <a:xfrm>
            <a:off x="3369876" y="5257285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1-g1-p4"/>
          <p:cNvSpPr/>
          <p:nvPr/>
        </p:nvSpPr>
        <p:spPr>
          <a:xfrm>
            <a:off x="3534468" y="5257285"/>
            <a:ext cx="137160" cy="13716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1-g1-p5"/>
          <p:cNvSpPr/>
          <p:nvPr/>
        </p:nvSpPr>
        <p:spPr>
          <a:xfrm>
            <a:off x="3699060" y="5257285"/>
            <a:ext cx="13716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8E97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1-g1-p6"/>
          <p:cNvSpPr/>
          <p:nvPr/>
        </p:nvSpPr>
        <p:spPr>
          <a:xfrm>
            <a:off x="3040692" y="5092693"/>
            <a:ext cx="137160" cy="13716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1-g1-p7"/>
          <p:cNvSpPr/>
          <p:nvPr/>
        </p:nvSpPr>
        <p:spPr>
          <a:xfrm>
            <a:off x="3205284" y="5092693"/>
            <a:ext cx="137160" cy="13716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1-g1-p8"/>
          <p:cNvSpPr/>
          <p:nvPr/>
        </p:nvSpPr>
        <p:spPr>
          <a:xfrm>
            <a:off x="3369876" y="5092693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1-g1-p9"/>
          <p:cNvSpPr/>
          <p:nvPr/>
        </p:nvSpPr>
        <p:spPr>
          <a:xfrm>
            <a:off x="3534468" y="5092693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1-g1-p10"/>
          <p:cNvSpPr/>
          <p:nvPr/>
        </p:nvSpPr>
        <p:spPr>
          <a:xfrm>
            <a:off x="3699060" y="5092693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1-g1-p11"/>
          <p:cNvSpPr/>
          <p:nvPr/>
        </p:nvSpPr>
        <p:spPr>
          <a:xfrm>
            <a:off x="3040692" y="4928101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1-g1-p12"/>
          <p:cNvSpPr/>
          <p:nvPr/>
        </p:nvSpPr>
        <p:spPr>
          <a:xfrm>
            <a:off x="3205284" y="4928101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1-g1-p13"/>
          <p:cNvSpPr/>
          <p:nvPr/>
        </p:nvSpPr>
        <p:spPr>
          <a:xfrm>
            <a:off x="3369876" y="4928101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1-g1-p14"/>
          <p:cNvSpPr/>
          <p:nvPr/>
        </p:nvSpPr>
        <p:spPr>
          <a:xfrm>
            <a:off x="3534468" y="4928101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1-g1-p15"/>
          <p:cNvSpPr/>
          <p:nvPr/>
        </p:nvSpPr>
        <p:spPr>
          <a:xfrm>
            <a:off x="3699060" y="4928101"/>
            <a:ext cx="137160" cy="13716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1-g1-p16"/>
          <p:cNvSpPr/>
          <p:nvPr/>
        </p:nvSpPr>
        <p:spPr>
          <a:xfrm>
            <a:off x="3040692" y="4763509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1-g1-p17"/>
          <p:cNvSpPr/>
          <p:nvPr/>
        </p:nvSpPr>
        <p:spPr>
          <a:xfrm>
            <a:off x="3205284" y="4763509"/>
            <a:ext cx="137160" cy="13716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1-g1-p18"/>
          <p:cNvSpPr/>
          <p:nvPr/>
        </p:nvSpPr>
        <p:spPr>
          <a:xfrm>
            <a:off x="3369876" y="4763509"/>
            <a:ext cx="13716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8E97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1-g1-p19"/>
          <p:cNvSpPr/>
          <p:nvPr/>
        </p:nvSpPr>
        <p:spPr>
          <a:xfrm>
            <a:off x="3534468" y="4763509"/>
            <a:ext cx="137160" cy="13716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1-g1-p20"/>
          <p:cNvSpPr/>
          <p:nvPr/>
        </p:nvSpPr>
        <p:spPr>
          <a:xfrm>
            <a:off x="3699060" y="4763509"/>
            <a:ext cx="137160" cy="13716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1-arrow"/>
          <p:cNvSpPr txBox="1"/>
          <p:nvPr/>
        </p:nvSpPr>
        <p:spPr>
          <a:xfrm>
            <a:off x="1959975" y="4877809"/>
            <a:ext cx="10807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60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80" name="c1-same"/>
          <p:cNvSpPr txBox="1"/>
          <p:nvPr/>
        </p:nvSpPr>
        <p:spPr>
          <a:xfrm>
            <a:off x="1914255" y="5078977"/>
            <a:ext cx="1172156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000" b="0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위치 동일</a:t>
            </a:r>
          </a:p>
        </p:txBody>
      </p:sp>
      <p:sp>
        <p:nvSpPr>
          <p:cNvPr id="81" name="c1-legend-고정된 기계"/>
          <p:cNvSpPr/>
          <p:nvPr/>
        </p:nvSpPr>
        <p:spPr>
          <a:xfrm>
            <a:off x="963279" y="5490457"/>
            <a:ext cx="109728" cy="109728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1-legend-고정된 기계-t"/>
          <p:cNvSpPr txBox="1"/>
          <p:nvPr/>
        </p:nvSpPr>
        <p:spPr>
          <a:xfrm>
            <a:off x="1109583" y="5458453"/>
            <a:ext cx="813816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000" b="0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고정된 기계</a:t>
            </a:r>
          </a:p>
        </p:txBody>
      </p:sp>
      <p:sp>
        <p:nvSpPr>
          <p:cNvPr id="83" name="c1-legend-재구성된 기계"/>
          <p:cNvSpPr/>
          <p:nvPr/>
        </p:nvSpPr>
        <p:spPr>
          <a:xfrm>
            <a:off x="1923399" y="5490457"/>
            <a:ext cx="109728" cy="109728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1-legend-재구성된 기계-t"/>
          <p:cNvSpPr txBox="1"/>
          <p:nvPr/>
        </p:nvSpPr>
        <p:spPr>
          <a:xfrm>
            <a:off x="2069703" y="5458453"/>
            <a:ext cx="950976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000" b="0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재구성된 기계</a:t>
            </a:r>
          </a:p>
        </p:txBody>
      </p:sp>
      <p:sp>
        <p:nvSpPr>
          <p:cNvPr id="85" name="c1-legend-빈 자리"/>
          <p:cNvSpPr/>
          <p:nvPr/>
        </p:nvSpPr>
        <p:spPr>
          <a:xfrm>
            <a:off x="3020679" y="5490457"/>
            <a:ext cx="109728" cy="109728"/>
          </a:xfrm>
          <a:prstGeom prst="rect">
            <a:avLst/>
          </a:prstGeom>
          <a:solidFill>
            <a:srgbClr val="FFFFFF"/>
          </a:solidFill>
          <a:ln w="9525">
            <a:solidFill>
              <a:srgbClr val="8E97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1-legend-빈 자리-t"/>
          <p:cNvSpPr txBox="1"/>
          <p:nvPr/>
        </p:nvSpPr>
        <p:spPr>
          <a:xfrm>
            <a:off x="3166983" y="5458453"/>
            <a:ext cx="676656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000" b="0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빈 자리</a:t>
            </a:r>
          </a:p>
        </p:txBody>
      </p:sp>
      <p:sp>
        <p:nvSpPr>
          <p:cNvPr id="87" name="c1-text"/>
          <p:cNvSpPr txBox="1"/>
          <p:nvPr/>
        </p:nvSpPr>
        <p:spPr>
          <a:xfrm>
            <a:off x="890127" y="5677909"/>
            <a:ext cx="3220412" cy="4072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20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예제 2 최적해: 수요가 바뀌어도(A 단종, C 신규) 18대 위치 그대로, </a:t>
            </a:r>
            <a:r>
              <a:rPr sz="120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재구성 6회로만 대응</a:t>
            </a:r>
          </a:p>
        </p:txBody>
      </p:sp>
      <p:sp>
        <p:nvSpPr>
          <p:cNvPr id="88" name="c2-chart-title"/>
          <p:cNvSpPr txBox="1"/>
          <p:nvPr/>
        </p:nvSpPr>
        <p:spPr>
          <a:xfrm>
            <a:off x="4567740" y="3702805"/>
            <a:ext cx="322041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000" b="1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남은 최적성 gap (풀이 시간별)</a:t>
            </a:r>
          </a:p>
        </p:txBody>
      </p:sp>
      <p:graphicFrame>
        <p:nvGraphicFramePr>
          <p:cNvPr id="89" name="c2-chart"/>
          <p:cNvGraphicFramePr>
            <a:graphicFrameLocks noGrp="1"/>
          </p:cNvGraphicFramePr>
          <p:nvPr/>
        </p:nvGraphicFramePr>
        <p:xfrm>
          <a:off x="4476300" y="3867397"/>
          <a:ext cx="3403292" cy="1133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0" name="c2-stat"/>
          <p:cNvSpPr txBox="1"/>
          <p:nvPr/>
        </p:nvSpPr>
        <p:spPr>
          <a:xfrm>
            <a:off x="4567740" y="5019541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2400" b="1" i="0" lang="ko-KR" altLang="en-US">
                <a:solidFill>
                  <a:srgbClr val="C44536"/>
                </a:solidFill>
                <a:latin typeface="맑은 고딕"/>
                <a:ea typeface="맑은 고딕"/>
                <a:cs typeface="맑은 고딕"/>
              </a:rPr>
              <a:t>48.1시간</a:t>
            </a:r>
          </a:p>
        </p:txBody>
      </p:sp>
      <p:sp>
        <p:nvSpPr>
          <p:cNvPr id="91" name="c2-stat-caption"/>
          <p:cNvSpPr txBox="1"/>
          <p:nvPr/>
        </p:nvSpPr>
        <p:spPr>
          <a:xfrm>
            <a:off x="6085644" y="5019541"/>
            <a:ext cx="170250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000" b="0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예제 2 최적 증명 소요</a:t>
            </a:r>
          </a:p>
          <a:p>
            <a:pPr algn="l" eaLnBrk="0" latinLnBrk="0">
              <a:lnSpc>
                <a:spcPct val="100000"/>
              </a:lnSpc>
            </a:pPr>
            <a:r>
              <a:rPr sz="1000" b="0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(탐색 노드 467만 개)</a:t>
            </a:r>
          </a:p>
        </p:txBody>
      </p:sp>
      <p:sp>
        <p:nvSpPr>
          <p:cNvPr id="92" name="c2-text"/>
          <p:cNvSpPr txBox="1"/>
          <p:nvPr/>
        </p:nvSpPr>
        <p:spPr>
          <a:xfrm>
            <a:off x="4567740" y="5449309"/>
            <a:ext cx="3220412" cy="6358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 latinLnBrk="0" marL="155448" indent="-155448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20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10분 풀이 시 gap 2.1% — 최적 보장 불가</a:t>
            </a:r>
          </a:p>
          <a:p>
            <a:pPr algn="l" eaLnBrk="0" latinLnBrk="0" marL="155448" indent="-155448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20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LP 완화 gap 8.4% (32,776 vs 35,775)</a:t>
            </a:r>
          </a:p>
          <a:p>
            <a:pPr algn="l" eaLnBrk="0" latinLnBrk="0" marL="155448" indent="-155448">
              <a:lnSpc>
                <a:spcPct val="100000"/>
              </a:lnSpc>
              <a:buFont typeface="Arial"/>
              <a:buChar char="•"/>
            </a:pPr>
            <a:r>
              <a:rPr sz="120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논문 보고값 36,006 &gt; </a:t>
            </a:r>
            <a:r>
              <a:rPr sz="120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증명된 최적 35,775</a:t>
            </a:r>
          </a:p>
        </p:txBody>
      </p:sp>
      <p:sp>
        <p:nvSpPr>
          <p:cNvPr id="93" name="c3-subtitle"/>
          <p:cNvSpPr txBox="1"/>
          <p:nvPr/>
        </p:nvSpPr>
        <p:spPr>
          <a:xfrm>
            <a:off x="8245352" y="3730237"/>
            <a:ext cx="322041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05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기계 이동 허용 시 비용 절감률</a:t>
            </a:r>
            <a:r>
              <a:rPr sz="1000" b="0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  (이동비 0 기준)</a:t>
            </a:r>
          </a:p>
          <a:p>
            <a:pPr algn="l" eaLnBrk="0" latinLnBrk="0">
              <a:lnSpc>
                <a:spcPct val="100000"/>
              </a:lnSpc>
            </a:pPr>
            <a:r>
              <a:rPr sz="1000" b="0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같은 조건(3×4 배치·수요 0.5배)에서 공정 순서만 다름</a:t>
            </a:r>
          </a:p>
        </p:txBody>
      </p:sp>
      <p:sp>
        <p:nvSpPr>
          <p:cNvPr id="94" name="c3-bar0-label"/>
          <p:cNvSpPr txBox="1"/>
          <p:nvPr/>
        </p:nvSpPr>
        <p:spPr>
          <a:xfrm>
            <a:off x="8245352" y="4160005"/>
            <a:ext cx="322041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05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공정 공유형 (Saffar 예제의 공정 순서)</a:t>
            </a:r>
          </a:p>
        </p:txBody>
      </p:sp>
      <p:sp>
        <p:nvSpPr>
          <p:cNvPr id="95" name="c3-bar0-proven"/>
          <p:cNvSpPr/>
          <p:nvPr/>
        </p:nvSpPr>
        <p:spPr>
          <a:xfrm>
            <a:off x="8245352" y="4370317"/>
            <a:ext cx="502615" cy="228600"/>
          </a:xfrm>
          <a:prstGeom prst="rect">
            <a:avLst/>
          </a:prstGeom>
          <a:solidFill>
            <a:srgbClr val="8E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3-bar0-range"/>
          <p:cNvSpPr/>
          <p:nvPr/>
        </p:nvSpPr>
        <p:spPr>
          <a:xfrm>
            <a:off x="8747967" y="4370317"/>
            <a:ext cx="264261" cy="228600"/>
          </a:xfrm>
          <a:prstGeom prst="rect">
            <a:avLst/>
          </a:prstGeom>
          <a:solidFill>
            <a:srgbClr val="D5D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c3-bar0-value"/>
          <p:cNvSpPr txBox="1"/>
          <p:nvPr/>
        </p:nvSpPr>
        <p:spPr>
          <a:xfrm>
            <a:off x="9076237" y="4342885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20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0.97~1.48%</a:t>
            </a:r>
          </a:p>
        </p:txBody>
      </p:sp>
      <p:sp>
        <p:nvSpPr>
          <p:cNvPr id="98" name="c3-bar1-label"/>
          <p:cNvSpPr txBox="1"/>
          <p:nvPr/>
        </p:nvSpPr>
        <p:spPr>
          <a:xfrm>
            <a:off x="8245352" y="4672069"/>
            <a:ext cx="322041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05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공정 비공유형 (부품별 전용 공정)</a:t>
            </a:r>
          </a:p>
        </p:txBody>
      </p:sp>
      <p:sp>
        <p:nvSpPr>
          <p:cNvPr id="99" name="c3-bar1-proven"/>
          <p:cNvSpPr/>
          <p:nvPr/>
        </p:nvSpPr>
        <p:spPr>
          <a:xfrm>
            <a:off x="8245352" y="4882381"/>
            <a:ext cx="1549298" cy="22860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3-bar1-range"/>
          <p:cNvSpPr/>
          <p:nvPr/>
        </p:nvSpPr>
        <p:spPr>
          <a:xfrm>
            <a:off x="9794651" y="4882381"/>
            <a:ext cx="544067" cy="228600"/>
          </a:xfrm>
          <a:prstGeom prst="rect">
            <a:avLst/>
          </a:prstGeom>
          <a:solidFill>
            <a:srgbClr val="F2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3-bar1-value"/>
          <p:cNvSpPr txBox="1"/>
          <p:nvPr/>
        </p:nvSpPr>
        <p:spPr>
          <a:xfrm>
            <a:off x="10402727" y="485494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200" b="1" i="0" lang="ko-KR" altLang="en-US">
                <a:solidFill>
                  <a:srgbClr val="C44536"/>
                </a:solidFill>
                <a:latin typeface="맑은 고딕"/>
                <a:ea typeface="맑은 고딕"/>
                <a:cs typeface="맑은 고딕"/>
              </a:rPr>
              <a:t>2.99~4.04%</a:t>
            </a:r>
          </a:p>
        </p:txBody>
      </p:sp>
      <p:sp>
        <p:nvSpPr>
          <p:cNvPr id="102" name="c3-legend"/>
          <p:cNvSpPr txBox="1"/>
          <p:nvPr/>
        </p:nvSpPr>
        <p:spPr>
          <a:xfrm>
            <a:off x="8245352" y="5165845"/>
            <a:ext cx="322041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000" b="0" i="0" lang="ko-KR" altLang="en-US">
                <a:solidFill>
                  <a:srgbClr val="6B7385"/>
                </a:solidFill>
                <a:latin typeface="맑은 고딕"/>
                <a:ea typeface="맑은 고딕"/>
                <a:cs typeface="맑은 고딕"/>
              </a:rPr>
              <a:t>진한 부분: 증명된 최소 · 옅은 부분: 가능 범위</a:t>
            </a:r>
          </a:p>
        </p:txBody>
      </p:sp>
      <p:sp>
        <p:nvSpPr>
          <p:cNvPr id="103" name="c3-text"/>
          <p:cNvSpPr txBox="1"/>
          <p:nvPr/>
        </p:nvSpPr>
        <p:spPr>
          <a:xfrm>
            <a:off x="8245352" y="5385301"/>
            <a:ext cx="3220412" cy="699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 latinLnBrk="0" marL="155448" indent="-155448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20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예제가 소규모(16·20슬롯, 4기간)이고 3부품 모두 공정 2→12 공유</a:t>
            </a:r>
          </a:p>
          <a:p>
            <a:pPr algn="l" eaLnBrk="0" latinLnBrk="0" marL="155448" indent="-155448">
              <a:lnSpc>
                <a:spcPct val="100000"/>
              </a:lnSpc>
              <a:buFont typeface="Arial"/>
              <a:buChar char="•"/>
            </a:pPr>
            <a:r>
              <a:rPr sz="1200" b="0" i="0" lang="ko-KR" altLang="en-US">
                <a:solidFill>
                  <a:srgbClr val="3A4458"/>
                </a:solidFill>
                <a:latin typeface="맑은 고딕"/>
                <a:ea typeface="맑은 고딕"/>
                <a:cs typeface="맑은 고딕"/>
              </a:rPr>
              <a:t>위치 고정이 전제 → </a:t>
            </a:r>
            <a:r>
              <a:rPr sz="1200" b="1" i="0" lang="ko-KR" altLang="en-US">
                <a:solidFill>
                  <a:srgbClr val="2E3A59"/>
                </a:solidFill>
                <a:latin typeface="맑은 고딕"/>
                <a:ea typeface="맑은 고딕"/>
                <a:cs typeface="맑은 고딕"/>
              </a:rPr>
              <a:t>재배치 가치 평가 불가</a:t>
            </a:r>
          </a:p>
        </p:txBody>
      </p:sp>
      <p:sp>
        <p:nvSpPr>
          <p:cNvPr id="104" name="conclusion-bg"/>
          <p:cNvSpPr/>
          <p:nvPr/>
        </p:nvSpPr>
        <p:spPr>
          <a:xfrm>
            <a:off x="752967" y="6249719"/>
            <a:ext cx="10849957" cy="384048"/>
          </a:xfrm>
          <a:prstGeom prst="roundRect">
            <a:avLst>
              <a:gd name="adj" fmla="val 25000"/>
            </a:avLst>
          </a:prstGeom>
          <a:solidFill>
            <a:srgbClr val="4A5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onclusion"/>
          <p:cNvSpPr txBox="1"/>
          <p:nvPr/>
        </p:nvSpPr>
        <p:spPr>
          <a:xfrm>
            <a:off x="935847" y="6249719"/>
            <a:ext cx="1048419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 본 연구 목적:  </a:t>
            </a:r>
            <a:r>
              <a:rPr sz="14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기간마다 기계 재배치를 허용하는 Adaptive layout MILP를 제안하고, 재배치가 이득이 되는 조건을 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